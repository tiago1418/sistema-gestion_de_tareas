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9" r:id="rId2"/>
    <p:sldId id="260" r:id="rId3"/>
    <p:sldId id="261" r:id="rId4"/>
    <p:sldId id="262" r:id="rId5"/>
    <p:sldId id="263" r:id="rId6"/>
    <p:sldId id="264" r:id="rId7"/>
    <p:sldId id="265" r:id="rId8"/>
    <p:sldId id="266" r:id="rId9"/>
    <p:sldId id="267" r:id="rId10"/>
    <p:sldId id="268" r:id="rId11"/>
    <p:sldId id="269" r:id="rId12"/>
    <p:sldId id="270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000" autoAdjust="0"/>
    <p:restoredTop sz="94660"/>
  </p:normalViewPr>
  <p:slideViewPr>
    <p:cSldViewPr snapToGrid="0">
      <p:cViewPr varScale="1">
        <p:scale>
          <a:sx n="71" d="100"/>
          <a:sy n="71" d="100"/>
        </p:scale>
        <p:origin x="696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417779" y="802298"/>
            <a:ext cx="8637073" cy="2541431"/>
          </a:xfrm>
        </p:spPr>
        <p:txBody>
          <a:bodyPr bIns="0" anchor="b">
            <a:normAutofit/>
          </a:bodyPr>
          <a:lstStyle>
            <a:lvl1pPr algn="l">
              <a:defRPr sz="66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417780" y="3531204"/>
            <a:ext cx="8637072" cy="977621"/>
          </a:xfrm>
        </p:spPr>
        <p:txBody>
          <a:bodyPr tIns="91440" bIns="91440">
            <a:normAutofit/>
          </a:bodyPr>
          <a:lstStyle>
            <a:lvl1pPr marL="0" indent="0" algn="l">
              <a:buNone/>
              <a:defRPr sz="1800" b="0" cap="all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65F1C0-3782-46F0-AF74-514455053B3D}" type="datetimeFigureOut">
              <a:rPr lang="es-EC" smtClean="0"/>
              <a:t>21/6/2026</a:t>
            </a:fld>
            <a:endParaRPr lang="es-EC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416500" y="329307"/>
            <a:ext cx="4973915" cy="309201"/>
          </a:xfrm>
        </p:spPr>
        <p:txBody>
          <a:bodyPr/>
          <a:lstStyle/>
          <a:p>
            <a:endParaRPr lang="es-EC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437664" y="798973"/>
            <a:ext cx="811019" cy="503578"/>
          </a:xfrm>
        </p:spPr>
        <p:txBody>
          <a:bodyPr/>
          <a:lstStyle/>
          <a:p>
            <a:fld id="{CB4BCADC-24FB-4875-ADD0-5F092C47E530}" type="slidenum">
              <a:rPr lang="es-EC" smtClean="0"/>
              <a:t>‹Nº›</a:t>
            </a:fld>
            <a:endParaRPr lang="es-EC"/>
          </a:p>
        </p:txBody>
      </p:sp>
      <p:cxnSp>
        <p:nvCxnSpPr>
          <p:cNvPr id="15" name="Straight Connector 14"/>
          <p:cNvCxnSpPr/>
          <p:nvPr/>
        </p:nvCxnSpPr>
        <p:spPr>
          <a:xfrm>
            <a:off x="2417780" y="3528542"/>
            <a:ext cx="863707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512426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65F1C0-3782-46F0-AF74-514455053B3D}" type="datetimeFigureOut">
              <a:rPr lang="es-EC" smtClean="0"/>
              <a:t>21/6/2026</a:t>
            </a:fld>
            <a:endParaRPr lang="es-EC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4BCADC-24FB-4875-ADD0-5F092C47E530}" type="slidenum">
              <a:rPr lang="es-EC" smtClean="0"/>
              <a:t>‹Nº›</a:t>
            </a:fld>
            <a:endParaRPr lang="es-EC"/>
          </a:p>
        </p:txBody>
      </p:sp>
      <p:cxnSp>
        <p:nvCxnSpPr>
          <p:cNvPr id="33" name="Straight Connector 32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966026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4239" y="1756130"/>
            <a:ext cx="8643154" cy="1887950"/>
          </a:xfrm>
        </p:spPr>
        <p:txBody>
          <a:bodyPr anchor="b">
            <a:normAutofit/>
          </a:bodyPr>
          <a:lstStyle>
            <a:lvl1pPr algn="l">
              <a:defRPr sz="36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4239" y="3806195"/>
            <a:ext cx="8630446" cy="1012929"/>
          </a:xfrm>
        </p:spPr>
        <p:txBody>
          <a:bodyPr tIns="91440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65F1C0-3782-46F0-AF74-514455053B3D}" type="datetimeFigureOut">
              <a:rPr lang="es-EC" smtClean="0"/>
              <a:t>21/6/2026</a:t>
            </a:fld>
            <a:endParaRPr lang="es-EC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4BCADC-24FB-4875-ADD0-5F092C47E530}" type="slidenum">
              <a:rPr lang="es-EC" smtClean="0"/>
              <a:t>‹Nº›</a:t>
            </a:fld>
            <a:endParaRPr lang="es-EC"/>
          </a:p>
        </p:txBody>
      </p:sp>
      <p:cxnSp>
        <p:nvCxnSpPr>
          <p:cNvPr id="15" name="Straight Connector 14"/>
          <p:cNvCxnSpPr/>
          <p:nvPr/>
        </p:nvCxnSpPr>
        <p:spPr>
          <a:xfrm>
            <a:off x="1454239" y="3804985"/>
            <a:ext cx="8630446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127915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9217" y="804889"/>
            <a:ext cx="9605635" cy="1059305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47331" y="2010878"/>
            <a:ext cx="4645152" cy="3448595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3771" y="2017343"/>
            <a:ext cx="4645152" cy="3441520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65F1C0-3782-46F0-AF74-514455053B3D}" type="datetimeFigureOut">
              <a:rPr lang="es-EC" smtClean="0"/>
              <a:t>21/6/2026</a:t>
            </a:fld>
            <a:endParaRPr lang="es-EC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4BCADC-24FB-4875-ADD0-5F092C47E530}" type="slidenum">
              <a:rPr lang="es-EC" smtClean="0"/>
              <a:t>‹Nº›</a:t>
            </a:fld>
            <a:endParaRPr lang="es-EC"/>
          </a:p>
        </p:txBody>
      </p:sp>
      <p:cxnSp>
        <p:nvCxnSpPr>
          <p:cNvPr id="35" name="Straight Connector 3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926815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7191" y="804163"/>
            <a:ext cx="9607661" cy="1056319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47191" y="2019549"/>
            <a:ext cx="4645152" cy="801943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47191" y="2824269"/>
            <a:ext cx="4645152" cy="2644457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12362" y="2023003"/>
            <a:ext cx="4645152" cy="802237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12362" y="2821491"/>
            <a:ext cx="4645152" cy="2637371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65F1C0-3782-46F0-AF74-514455053B3D}" type="datetimeFigureOut">
              <a:rPr lang="es-EC" smtClean="0"/>
              <a:t>21/6/2026</a:t>
            </a:fld>
            <a:endParaRPr lang="es-EC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4BCADC-24FB-4875-ADD0-5F092C47E530}" type="slidenum">
              <a:rPr lang="es-EC" smtClean="0"/>
              <a:t>‹Nº›</a:t>
            </a:fld>
            <a:endParaRPr lang="es-EC"/>
          </a:p>
        </p:txBody>
      </p:sp>
      <p:cxnSp>
        <p:nvCxnSpPr>
          <p:cNvPr id="29" name="Straight Connector 28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860350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65F1C0-3782-46F0-AF74-514455053B3D}" type="datetimeFigureOut">
              <a:rPr lang="es-EC" smtClean="0"/>
              <a:t>21/6/2026</a:t>
            </a:fld>
            <a:endParaRPr lang="es-EC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4BCADC-24FB-4875-ADD0-5F092C47E530}" type="slidenum">
              <a:rPr lang="es-EC" smtClean="0"/>
              <a:t>‹Nº›</a:t>
            </a:fld>
            <a:endParaRPr lang="es-EC"/>
          </a:p>
        </p:txBody>
      </p:sp>
      <p:cxnSp>
        <p:nvCxnSpPr>
          <p:cNvPr id="25" name="Straight Connector 2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679161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65F1C0-3782-46F0-AF74-514455053B3D}" type="datetimeFigureOut">
              <a:rPr lang="es-EC" smtClean="0"/>
              <a:t>21/6/2026</a:t>
            </a:fld>
            <a:endParaRPr lang="es-EC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4BCADC-24FB-4875-ADD0-5F092C47E530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9438039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4671" y="798973"/>
            <a:ext cx="3273099" cy="2247117"/>
          </a:xfrm>
        </p:spPr>
        <p:txBody>
          <a:bodyPr anchor="b">
            <a:normAutofit/>
          </a:bodyPr>
          <a:lstStyle>
            <a:lvl1pPr algn="l">
              <a:defRPr sz="24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43714" y="798974"/>
            <a:ext cx="6012470" cy="4658826"/>
          </a:xfrm>
        </p:spPr>
        <p:txBody>
          <a:bodyPr anchor="ctr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44671" y="3205491"/>
            <a:ext cx="3275013" cy="2248181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65F1C0-3782-46F0-AF74-514455053B3D}" type="datetimeFigureOut">
              <a:rPr lang="es-EC" smtClean="0"/>
              <a:t>21/6/2026</a:t>
            </a:fld>
            <a:endParaRPr lang="es-EC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4BCADC-24FB-4875-ADD0-5F092C47E530}" type="slidenum">
              <a:rPr lang="es-EC" smtClean="0"/>
              <a:t>‹Nº›</a:t>
            </a:fld>
            <a:endParaRPr lang="es-EC"/>
          </a:p>
        </p:txBody>
      </p:sp>
      <p:cxnSp>
        <p:nvCxnSpPr>
          <p:cNvPr id="17" name="Straight Connector 16"/>
          <p:cNvCxnSpPr/>
          <p:nvPr/>
        </p:nvCxnSpPr>
        <p:spPr>
          <a:xfrm>
            <a:off x="1448280" y="3205491"/>
            <a:ext cx="3269490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962268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7477387" y="482170"/>
            <a:ext cx="4074533" cy="5149101"/>
            <a:chOff x="7477387" y="482170"/>
            <a:chExt cx="4074533" cy="5149101"/>
          </a:xfrm>
        </p:grpSpPr>
        <p:sp>
          <p:nvSpPr>
            <p:cNvPr id="18" name="Rectangle 17"/>
            <p:cNvSpPr/>
            <p:nvPr/>
          </p:nvSpPr>
          <p:spPr bwMode="black">
            <a:xfrm>
              <a:off x="7477387" y="482170"/>
              <a:ext cx="4074533" cy="5149101"/>
            </a:xfrm>
            <a:prstGeom prst="rect">
              <a:avLst/>
            </a:prstGeom>
            <a:gradFill>
              <a:gsLst>
                <a:gs pos="0">
                  <a:srgbClr val="000001"/>
                </a:gs>
                <a:gs pos="100000">
                  <a:srgbClr val="191919"/>
                </a:gs>
              </a:gsLst>
            </a:gradFill>
            <a:ln w="76200" cmpd="sng">
              <a:noFill/>
              <a:miter lim="800000"/>
            </a:ln>
            <a:effectLst>
              <a:outerShdw blurRad="127000" dist="228600" dir="4740000" sx="98000" sy="98000" algn="tl" rotWithShape="0">
                <a:srgbClr val="000000">
                  <a:alpha val="34000"/>
                </a:srgbClr>
              </a:outerShdw>
            </a:effectLst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Rectangle 18"/>
            <p:cNvSpPr/>
            <p:nvPr/>
          </p:nvSpPr>
          <p:spPr bwMode="blackWhite">
            <a:xfrm>
              <a:off x="7790446" y="812506"/>
              <a:ext cx="3450289" cy="4466452"/>
            </a:xfrm>
            <a:prstGeom prst="rect">
              <a:avLst/>
            </a:prstGeom>
            <a:gradFill>
              <a:gsLst>
                <a:gs pos="0">
                  <a:srgbClr val="DADADA"/>
                </a:gs>
                <a:gs pos="100000">
                  <a:srgbClr val="FFFFFE"/>
                </a:gs>
              </a:gsLst>
              <a:lin ang="16200000" scaled="0"/>
            </a:gradFill>
            <a:ln w="50800" cmpd="sng">
              <a:solidFill>
                <a:srgbClr val="191919"/>
              </a:solidFill>
              <a:miter lim="800000"/>
            </a:ln>
            <a:effectLst>
              <a:innerShdw blurRad="63500" dist="88900" dir="14100000">
                <a:srgbClr val="000000">
                  <a:alpha val="30000"/>
                </a:srgbClr>
              </a:innerShdw>
            </a:effectLst>
            <a:scene3d>
              <a:camera prst="orthographicFront"/>
              <a:lightRig rig="threePt" dir="t"/>
            </a:scene3d>
            <a:sp3d>
              <a:bevelT prst="relaxedInse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1206" y="1129513"/>
            <a:ext cx="5532328" cy="1830584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124389" y="1122542"/>
            <a:ext cx="2791171" cy="3866327"/>
          </a:xfrm>
          <a:solidFill>
            <a:schemeClr val="bg1">
              <a:lumMod val="85000"/>
            </a:schemeClr>
          </a:solidFill>
          <a:ln w="9525" cap="sq">
            <a:noFill/>
            <a:miter lim="800000"/>
          </a:ln>
          <a:effectLst/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50329" y="3145992"/>
            <a:ext cx="5524404" cy="2003742"/>
          </a:xfrm>
        </p:spPr>
        <p:txBody>
          <a:bodyPr>
            <a:normAutofit/>
          </a:bodyPr>
          <a:lstStyle>
            <a:lvl1pPr marL="0" indent="0" algn="l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447382" y="5469856"/>
            <a:ext cx="5527351" cy="320123"/>
          </a:xfrm>
        </p:spPr>
        <p:txBody>
          <a:bodyPr/>
          <a:lstStyle>
            <a:lvl1pPr algn="l">
              <a:defRPr/>
            </a:lvl1pPr>
          </a:lstStyle>
          <a:p>
            <a:fld id="{0665F1C0-3782-46F0-AF74-514455053B3D}" type="datetimeFigureOut">
              <a:rPr lang="es-EC" smtClean="0"/>
              <a:t>21/6/2026</a:t>
            </a:fld>
            <a:endParaRPr lang="es-EC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447382" y="318640"/>
            <a:ext cx="5541004" cy="320931"/>
          </a:xfrm>
        </p:spPr>
        <p:txBody>
          <a:bodyPr/>
          <a:lstStyle/>
          <a:p>
            <a:endParaRPr lang="es-EC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4BCADC-24FB-4875-ADD0-5F092C47E530}" type="slidenum">
              <a:rPr lang="es-EC" smtClean="0"/>
              <a:t>‹Nº›</a:t>
            </a:fld>
            <a:endParaRPr lang="es-EC"/>
          </a:p>
        </p:txBody>
      </p:sp>
      <p:cxnSp>
        <p:nvCxnSpPr>
          <p:cNvPr id="31" name="Straight Connector 30"/>
          <p:cNvCxnSpPr/>
          <p:nvPr/>
        </p:nvCxnSpPr>
        <p:spPr>
          <a:xfrm>
            <a:off x="1447382" y="3143605"/>
            <a:ext cx="5527351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195246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65F1C0-3782-46F0-AF74-514455053B3D}" type="datetimeFigureOut">
              <a:rPr lang="es-EC" smtClean="0"/>
              <a:t>21/6/2026</a:t>
            </a:fld>
            <a:endParaRPr lang="es-EC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4BCADC-24FB-4875-ADD0-5F092C47E530}" type="slidenum">
              <a:rPr lang="es-EC" smtClean="0"/>
              <a:t>‹Nº›</a:t>
            </a:fld>
            <a:endParaRPr lang="es-EC"/>
          </a:p>
        </p:txBody>
      </p:sp>
      <p:cxnSp>
        <p:nvCxnSpPr>
          <p:cNvPr id="26" name="Straight Connector 25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212631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39111" y="798973"/>
            <a:ext cx="1615742" cy="465988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44672" y="798973"/>
            <a:ext cx="7828830" cy="4659889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65F1C0-3782-46F0-AF74-514455053B3D}" type="datetimeFigureOut">
              <a:rPr lang="es-EC" smtClean="0"/>
              <a:t>21/6/2026</a:t>
            </a:fld>
            <a:endParaRPr lang="es-EC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4BCADC-24FB-4875-ADD0-5F092C47E530}" type="slidenum">
              <a:rPr lang="es-EC" smtClean="0"/>
              <a:t>‹Nº›</a:t>
            </a:fld>
            <a:endParaRPr lang="es-EC"/>
          </a:p>
        </p:txBody>
      </p:sp>
      <p:cxnSp>
        <p:nvCxnSpPr>
          <p:cNvPr id="15" name="Straight Connector 14"/>
          <p:cNvCxnSpPr/>
          <p:nvPr/>
        </p:nvCxnSpPr>
        <p:spPr>
          <a:xfrm>
            <a:off x="9439111" y="798973"/>
            <a:ext cx="0" cy="4659889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750099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1579" y="2015732"/>
            <a:ext cx="9603275" cy="34506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54138" y="330370"/>
            <a:ext cx="3500715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665F1C0-3782-46F0-AF74-514455053B3D}" type="datetimeFigureOut">
              <a:rPr lang="es-EC" smtClean="0"/>
              <a:t>21/6/2026</a:t>
            </a:fld>
            <a:endParaRPr lang="es-EC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51579" y="329307"/>
            <a:ext cx="5938836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EC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0060" y="798973"/>
            <a:ext cx="811019" cy="503578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2800">
                <a:solidFill>
                  <a:schemeClr val="accent1"/>
                </a:solidFill>
              </a:defRPr>
            </a:lvl1pPr>
          </a:lstStyle>
          <a:p>
            <a:fld id="{CB4BCADC-24FB-4875-ADD0-5F092C47E530}" type="slidenum">
              <a:rPr lang="es-EC" smtClean="0"/>
              <a:t>‹Nº›</a:t>
            </a:fld>
            <a:endParaRPr lang="es-EC"/>
          </a:p>
        </p:txBody>
      </p:sp>
      <p:cxnSp>
        <p:nvCxnSpPr>
          <p:cNvPr id="10" name="Straight Connector 9"/>
          <p:cNvCxnSpPr/>
          <p:nvPr/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190405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0" i="0" kern="1200" cap="all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20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8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6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4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5DAE680-8D2C-4C8E-9A7C-F7FCB53043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41612" y="188259"/>
            <a:ext cx="10515600" cy="1880534"/>
          </a:xfrm>
        </p:spPr>
        <p:txBody>
          <a:bodyPr>
            <a:normAutofit fontScale="90000"/>
          </a:bodyPr>
          <a:lstStyle/>
          <a:p>
            <a:r>
              <a:rPr lang="es-ES" b="1" dirty="0"/>
              <a:t>PROYECTO INTEGRADOR</a:t>
            </a:r>
            <a:br>
              <a:rPr lang="es-ES" b="1" dirty="0"/>
            </a:br>
            <a:r>
              <a:rPr lang="es-ES" b="1" dirty="0"/>
              <a:t>El impacto de las nuevas tecnologías en la sociedad: desarrollo y proyección de soluciones informáticas</a:t>
            </a:r>
            <a:br>
              <a:rPr lang="es-ES" b="1" dirty="0"/>
            </a:br>
            <a:endParaRPr lang="es-EC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D2ACAE61-9EFF-48CC-9283-D0C21573BE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80247" y="2326342"/>
            <a:ext cx="10515600" cy="3070692"/>
          </a:xfrm>
        </p:spPr>
        <p:txBody>
          <a:bodyPr/>
          <a:lstStyle/>
          <a:p>
            <a:r>
              <a:rPr lang="es-ES" b="1" dirty="0"/>
              <a:t>Sistema de Gestión de Tareas Académicas</a:t>
            </a:r>
            <a:endParaRPr lang="es-ES" dirty="0"/>
          </a:p>
          <a:p>
            <a:r>
              <a:rPr lang="es-ES" b="1" dirty="0"/>
              <a:t>Autor:</a:t>
            </a:r>
            <a:r>
              <a:rPr lang="es-ES" dirty="0"/>
              <a:t> Tiago Alejandro Insuasti Guerrero</a:t>
            </a:r>
          </a:p>
          <a:p>
            <a:r>
              <a:rPr lang="es-ES" b="1" dirty="0"/>
              <a:t>Asignatura:</a:t>
            </a:r>
            <a:r>
              <a:rPr lang="es-ES" dirty="0"/>
              <a:t> Lógica De Programación</a:t>
            </a:r>
          </a:p>
          <a:p>
            <a:r>
              <a:rPr lang="es-ES" b="1" dirty="0"/>
              <a:t>Docente:</a:t>
            </a:r>
            <a:r>
              <a:rPr lang="es-ES" dirty="0"/>
              <a:t> </a:t>
            </a:r>
            <a:r>
              <a:rPr lang="es-EC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MONICA PATRICIA SALAZAR TAPIA</a:t>
            </a:r>
            <a:endParaRPr lang="es-ES" dirty="0"/>
          </a:p>
          <a:p>
            <a:r>
              <a:rPr lang="es-ES" b="1" dirty="0"/>
              <a:t>Institución: </a:t>
            </a:r>
            <a:r>
              <a:rPr lang="es-ES" dirty="0"/>
              <a:t>Universidad Internacional Del Ecuador</a:t>
            </a:r>
          </a:p>
          <a:p>
            <a:r>
              <a:rPr lang="es-ES" b="1" dirty="0"/>
              <a:t>Fecha:</a:t>
            </a:r>
            <a:r>
              <a:rPr lang="es-ES" dirty="0"/>
              <a:t> Junio 2026</a:t>
            </a:r>
            <a:endParaRPr lang="es-EC" dirty="0"/>
          </a:p>
        </p:txBody>
      </p:sp>
    </p:spTree>
    <p:extLst>
      <p:ext uri="{BB962C8B-B14F-4D97-AF65-F5344CB8AC3E}">
        <p14:creationId xmlns:p14="http://schemas.microsoft.com/office/powerpoint/2010/main" val="3248931544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6000">
        <p15:prstTrans prst="curtains"/>
      </p:transition>
    </mc:Choice>
    <mc:Fallback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AB1E4D5C-EDC2-49E3-A42E-CD66924643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94362" y="1383720"/>
            <a:ext cx="9603275" cy="3450613"/>
          </a:xfrm>
        </p:spPr>
        <p:txBody>
          <a:bodyPr/>
          <a:lstStyle/>
          <a:p>
            <a:pPr marL="0" indent="0">
              <a:buNone/>
            </a:pPr>
            <a:r>
              <a:rPr lang="es-ES" b="1" dirty="0"/>
              <a:t>  Introducción</a:t>
            </a:r>
          </a:p>
          <a:p>
            <a:r>
              <a:rPr lang="es-ES" dirty="0"/>
              <a:t>La tecnología se ha convertido en una herramienta fundamental en la vida cotidiana. Actualmente facilita actividades relacionadas con la educación, la comunicación y la organización personal.</a:t>
            </a:r>
          </a:p>
          <a:p>
            <a:r>
              <a:rPr lang="es-ES" dirty="0"/>
              <a:t>Este proyecto propone una solución informática desarrollada en Python para ayudar a los estudiantes a gestionar sus tareas académicas de forma más eficiente.</a:t>
            </a:r>
          </a:p>
          <a:p>
            <a:endParaRPr lang="es-EC" dirty="0"/>
          </a:p>
        </p:txBody>
      </p:sp>
    </p:spTree>
    <p:extLst>
      <p:ext uri="{BB962C8B-B14F-4D97-AF65-F5344CB8AC3E}">
        <p14:creationId xmlns:p14="http://schemas.microsoft.com/office/powerpoint/2010/main" val="4086858362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2000">
        <p15:prstTrans prst="crush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E068BFF8-73D5-4C31-A9E7-3964801E98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97791" y="1397167"/>
            <a:ext cx="9603275" cy="3450613"/>
          </a:xfrm>
        </p:spPr>
        <p:txBody>
          <a:bodyPr/>
          <a:lstStyle/>
          <a:p>
            <a:pPr marL="0" indent="0">
              <a:buNone/>
            </a:pPr>
            <a:r>
              <a:rPr lang="es-ES" b="1" dirty="0"/>
              <a:t>   Descripción del problema</a:t>
            </a:r>
          </a:p>
          <a:p>
            <a:r>
              <a:rPr lang="es-ES" dirty="0"/>
              <a:t>Muchos estudiantes presentan dificultades para organizar sus actividades académicas debido al olvido de tareas y la falta de planificación.</a:t>
            </a:r>
          </a:p>
          <a:p>
            <a:r>
              <a:rPr lang="es-ES" dirty="0"/>
              <a:t>Esta situación puede afectar el rendimiento académico y la gestión adecuada del tiempo.</a:t>
            </a:r>
          </a:p>
          <a:p>
            <a:r>
              <a:rPr lang="es-ES" b="1" dirty="0"/>
              <a:t>Solución propuesta</a:t>
            </a:r>
          </a:p>
          <a:p>
            <a:r>
              <a:rPr lang="es-ES" dirty="0"/>
              <a:t>Desarrollo de un sistema de gestión de tareas académicas mediante Python.</a:t>
            </a:r>
          </a:p>
          <a:p>
            <a:endParaRPr lang="es-EC" dirty="0"/>
          </a:p>
        </p:txBody>
      </p:sp>
    </p:spTree>
    <p:extLst>
      <p:ext uri="{BB962C8B-B14F-4D97-AF65-F5344CB8AC3E}">
        <p14:creationId xmlns:p14="http://schemas.microsoft.com/office/powerpoint/2010/main" val="3376497329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3250">
        <p15:prstTrans prst="origami"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E068BFF8-73D5-4C31-A9E7-3964801E98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97791" y="1397167"/>
            <a:ext cx="9603275" cy="3450613"/>
          </a:xfrm>
        </p:spPr>
        <p:txBody>
          <a:bodyPr>
            <a:normAutofit fontScale="85000" lnSpcReduction="10000"/>
          </a:bodyPr>
          <a:lstStyle/>
          <a:p>
            <a:pPr marL="0" indent="0">
              <a:buNone/>
            </a:pPr>
            <a:r>
              <a:rPr lang="es-EC" b="1" dirty="0"/>
              <a:t>   Objetivos:</a:t>
            </a:r>
          </a:p>
          <a:p>
            <a:r>
              <a:rPr lang="es-EC" b="1" dirty="0"/>
              <a:t>Objetivo general</a:t>
            </a:r>
          </a:p>
          <a:p>
            <a:r>
              <a:rPr lang="es-EC" dirty="0"/>
              <a:t>Desarrollar un sistema informático que permita gestionar tareas académicas de forma organizada.</a:t>
            </a:r>
          </a:p>
          <a:p>
            <a:r>
              <a:rPr lang="es-EC" b="1" dirty="0"/>
              <a:t>Objetivos específicos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EC" dirty="0"/>
              <a:t>Registrar tareas.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EC" dirty="0"/>
              <a:t>Visualizar tareas pendientes.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EC" dirty="0"/>
              <a:t>Buscar tareas registradas.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EC" dirty="0"/>
              <a:t>Completar tareas.</a:t>
            </a:r>
          </a:p>
          <a:p>
            <a:endParaRPr lang="es-EC" dirty="0"/>
          </a:p>
        </p:txBody>
      </p:sp>
    </p:spTree>
    <p:extLst>
      <p:ext uri="{BB962C8B-B14F-4D97-AF65-F5344CB8AC3E}">
        <p14:creationId xmlns:p14="http://schemas.microsoft.com/office/powerpoint/2010/main" val="3003958464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2000">
        <p15:prstTrans prst="wind"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Marcador de contenido 1">
            <a:extLst>
              <a:ext uri="{FF2B5EF4-FFF2-40B4-BE49-F238E27FC236}">
                <a16:creationId xmlns:a16="http://schemas.microsoft.com/office/drawing/2014/main" id="{481454CD-9E30-4697-872E-5EECB642D2A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281451481"/>
              </p:ext>
            </p:extLst>
          </p:nvPr>
        </p:nvGraphicFramePr>
        <p:xfrm>
          <a:off x="1455178" y="2068363"/>
          <a:ext cx="9604374" cy="3291840"/>
        </p:xfrm>
        <a:graphic>
          <a:graphicData uri="http://schemas.openxmlformats.org/drawingml/2006/table">
            <a:tbl>
              <a:tblPr/>
              <a:tblGrid>
                <a:gridCol w="4802187">
                  <a:extLst>
                    <a:ext uri="{9D8B030D-6E8A-4147-A177-3AD203B41FA5}">
                      <a16:colId xmlns:a16="http://schemas.microsoft.com/office/drawing/2014/main" val="3756470074"/>
                    </a:ext>
                  </a:extLst>
                </a:gridCol>
                <a:gridCol w="4802187">
                  <a:extLst>
                    <a:ext uri="{9D8B030D-6E8A-4147-A177-3AD203B41FA5}">
                      <a16:colId xmlns:a16="http://schemas.microsoft.com/office/drawing/2014/main" val="3198114745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lang="es-EC" sz="1800" dirty="0"/>
                        <a:t>Semana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EC" sz="1800"/>
                        <a:t>Actividad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73370288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es-EC" sz="1800"/>
                        <a:t>1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EC" sz="1800"/>
                        <a:t>Identificación del problema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6603798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es-EC" sz="1800"/>
                        <a:t>2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EC" sz="1800"/>
                        <a:t>Investigación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7767003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es-EC" sz="1800"/>
                        <a:t>3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EC" sz="1800"/>
                        <a:t>Diseño de diagramas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4756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es-EC" sz="1800"/>
                        <a:t>4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EC" sz="1800"/>
                        <a:t>Arquitectura del sistema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6006174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es-EC" sz="1800"/>
                        <a:t>5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EC" sz="1800"/>
                        <a:t>Desarrollo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2197443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es-EC" sz="1800"/>
                        <a:t>6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EC" sz="1800"/>
                        <a:t>Implementación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08293038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es-EC" sz="1800"/>
                        <a:t>7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EC" sz="1800"/>
                        <a:t>Pruebas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363077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es-EC" sz="1800"/>
                        <a:t>8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EC" sz="1800" dirty="0"/>
                        <a:t>Documentación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17128174"/>
                  </a:ext>
                </a:extLst>
              </a:tr>
            </a:tbl>
          </a:graphicData>
        </a:graphic>
      </p:graphicFrame>
      <p:sp>
        <p:nvSpPr>
          <p:cNvPr id="4" name="Rectangle 1">
            <a:extLst>
              <a:ext uri="{FF2B5EF4-FFF2-40B4-BE49-F238E27FC236}">
                <a16:creationId xmlns:a16="http://schemas.microsoft.com/office/drawing/2014/main" id="{57F51BC8-1C21-48EA-B902-35A7F0550CA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55178" y="1159244"/>
            <a:ext cx="3360215" cy="67710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C" altLang="es-EC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Planificación del proyecto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C" altLang="es-EC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88459053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1250">
        <p15:prstTrans prst="airplane"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E068BFF8-73D5-4C31-A9E7-3964801E98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97791" y="1397167"/>
            <a:ext cx="9603275" cy="4210257"/>
          </a:xfrm>
        </p:spPr>
        <p:txBody>
          <a:bodyPr>
            <a:normAutofit lnSpcReduction="10000"/>
          </a:bodyPr>
          <a:lstStyle/>
          <a:p>
            <a:r>
              <a:rPr lang="es-ES" b="1" dirty="0"/>
              <a:t>Diagrama de Casos de Uso</a:t>
            </a:r>
          </a:p>
          <a:p>
            <a:r>
              <a:rPr lang="es-ES" b="1" dirty="0"/>
              <a:t>Figura 1</a:t>
            </a:r>
            <a:endParaRPr lang="es-ES" dirty="0"/>
          </a:p>
          <a:p>
            <a:pPr marL="0" indent="0">
              <a:buNone/>
            </a:pPr>
            <a:r>
              <a:rPr lang="es-ES" dirty="0"/>
              <a:t> </a:t>
            </a:r>
          </a:p>
          <a:p>
            <a:pPr marL="0" indent="0">
              <a:buNone/>
            </a:pPr>
            <a:endParaRPr lang="es-ES" dirty="0"/>
          </a:p>
          <a:p>
            <a:pPr marL="0" indent="0">
              <a:buNone/>
            </a:pPr>
            <a:endParaRPr lang="es-ES" dirty="0"/>
          </a:p>
          <a:p>
            <a:pPr marL="0" indent="0">
              <a:buNone/>
            </a:pPr>
            <a:endParaRPr lang="es-ES" dirty="0"/>
          </a:p>
          <a:p>
            <a:pPr marL="0" indent="0">
              <a:buNone/>
            </a:pPr>
            <a:endParaRPr lang="es-ES" dirty="0"/>
          </a:p>
          <a:p>
            <a:r>
              <a:rPr lang="es-ES" b="1" dirty="0"/>
              <a:t>Nota.</a:t>
            </a:r>
            <a:r>
              <a:rPr lang="es-ES" dirty="0"/>
              <a:t> Representación de las funcionalidades disponibles para el usuario dentro del sistema.</a:t>
            </a:r>
          </a:p>
          <a:p>
            <a:endParaRPr lang="es-EC" dirty="0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B273451B-DDF8-43D2-9F97-9E1E971C62DB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748" t="-853" r="11067" b="34126"/>
          <a:stretch/>
        </p:blipFill>
        <p:spPr>
          <a:xfrm>
            <a:off x="4247029" y="2359958"/>
            <a:ext cx="3697942" cy="21380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515572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600">
        <p14:gallery dir="l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E068BFF8-73D5-4C31-A9E7-3964801E98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97791" y="1397167"/>
            <a:ext cx="9603275" cy="4506092"/>
          </a:xfrm>
        </p:spPr>
        <p:txBody>
          <a:bodyPr>
            <a:normAutofit fontScale="85000" lnSpcReduction="10000"/>
          </a:bodyPr>
          <a:lstStyle/>
          <a:p>
            <a:r>
              <a:rPr lang="es-ES" b="1" dirty="0"/>
              <a:t>Diagrama de Flujo</a:t>
            </a:r>
          </a:p>
          <a:p>
            <a:r>
              <a:rPr lang="es-ES" b="1" dirty="0"/>
              <a:t>Figura 2</a:t>
            </a:r>
          </a:p>
          <a:p>
            <a:endParaRPr lang="es-ES" b="1" dirty="0"/>
          </a:p>
          <a:p>
            <a:endParaRPr lang="es-ES" b="1" dirty="0"/>
          </a:p>
          <a:p>
            <a:endParaRPr lang="es-ES" b="1" dirty="0"/>
          </a:p>
          <a:p>
            <a:endParaRPr lang="es-ES" b="1" dirty="0"/>
          </a:p>
          <a:p>
            <a:endParaRPr lang="es-ES" dirty="0"/>
          </a:p>
          <a:p>
            <a:endParaRPr lang="es-ES" dirty="0"/>
          </a:p>
          <a:p>
            <a:endParaRPr lang="es-ES" dirty="0"/>
          </a:p>
          <a:p>
            <a:endParaRPr lang="es-ES" dirty="0"/>
          </a:p>
          <a:p>
            <a:r>
              <a:rPr lang="es-ES" b="1" dirty="0"/>
              <a:t>Nota.</a:t>
            </a:r>
            <a:r>
              <a:rPr lang="es-ES" dirty="0"/>
              <a:t> Secuencia lógica de ejecución del sistema.</a:t>
            </a:r>
          </a:p>
          <a:p>
            <a:endParaRPr lang="es-EC" dirty="0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B001F08B-4CF0-42B7-885B-2FDA534137BF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0812"/>
          <a:stretch/>
        </p:blipFill>
        <p:spPr>
          <a:xfrm>
            <a:off x="4948486" y="1909481"/>
            <a:ext cx="3106302" cy="3551352"/>
          </a:xfrm>
          <a:prstGeom prst="rect">
            <a:avLst/>
          </a:prstGeom>
        </p:spPr>
      </p:pic>
      <p:sp>
        <p:nvSpPr>
          <p:cNvPr id="5" name="Rectángulo 4">
            <a:extLst>
              <a:ext uri="{FF2B5EF4-FFF2-40B4-BE49-F238E27FC236}">
                <a16:creationId xmlns:a16="http://schemas.microsoft.com/office/drawing/2014/main" id="{9588B547-D9A7-4D2A-8E70-B03317AB9D88}"/>
              </a:ext>
            </a:extLst>
          </p:cNvPr>
          <p:cNvSpPr/>
          <p:nvPr/>
        </p:nvSpPr>
        <p:spPr>
          <a:xfrm>
            <a:off x="7368989" y="2433918"/>
            <a:ext cx="685800" cy="51098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 dirty="0"/>
          </a:p>
        </p:txBody>
      </p:sp>
    </p:spTree>
    <p:extLst>
      <p:ext uri="{BB962C8B-B14F-4D97-AF65-F5344CB8AC3E}">
        <p14:creationId xmlns:p14="http://schemas.microsoft.com/office/powerpoint/2010/main" val="241085194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250">
        <p14:switch dir="r"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E068BFF8-73D5-4C31-A9E7-3964801E98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97791" y="1397167"/>
            <a:ext cx="9603275" cy="4479198"/>
          </a:xfrm>
        </p:spPr>
        <p:txBody>
          <a:bodyPr/>
          <a:lstStyle/>
          <a:p>
            <a:r>
              <a:rPr lang="es-ES" b="1" dirty="0"/>
              <a:t>Arquitectura del Sistema</a:t>
            </a:r>
          </a:p>
          <a:p>
            <a:r>
              <a:rPr lang="es-ES" b="1" dirty="0"/>
              <a:t>Figura 3</a:t>
            </a:r>
          </a:p>
          <a:p>
            <a:endParaRPr lang="es-ES" b="1" dirty="0"/>
          </a:p>
          <a:p>
            <a:endParaRPr lang="es-ES" b="1" dirty="0"/>
          </a:p>
          <a:p>
            <a:endParaRPr lang="es-ES" b="1" dirty="0"/>
          </a:p>
          <a:p>
            <a:endParaRPr lang="es-ES" b="1" dirty="0"/>
          </a:p>
          <a:p>
            <a:endParaRPr lang="es-ES" b="1" dirty="0"/>
          </a:p>
          <a:p>
            <a:endParaRPr lang="es-ES" dirty="0"/>
          </a:p>
          <a:p>
            <a:r>
              <a:rPr lang="es-ES" b="1" dirty="0"/>
              <a:t>Nota.</a:t>
            </a:r>
            <a:r>
              <a:rPr lang="es-ES" dirty="0"/>
              <a:t> Estructura general del funcionamiento del programa.</a:t>
            </a:r>
          </a:p>
          <a:p>
            <a:endParaRPr lang="es-EC" dirty="0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4340B6DA-BB95-4A8A-9B22-2410364A7744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991" t="7653" r="62467" b="15938"/>
          <a:stretch/>
        </p:blipFill>
        <p:spPr>
          <a:xfrm>
            <a:off x="5060576" y="1962607"/>
            <a:ext cx="2070847" cy="33483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071648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600">
        <p14:prism isContent="1" isInverted="1"/>
      </p:transition>
    </mc:Choice>
    <mc:Fallback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E068BFF8-73D5-4C31-A9E7-3964801E98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97791" y="0"/>
            <a:ext cx="9603275" cy="5688105"/>
          </a:xfrm>
        </p:spPr>
        <p:txBody>
          <a:bodyPr>
            <a:normAutofit/>
          </a:bodyPr>
          <a:lstStyle/>
          <a:p>
            <a:r>
              <a:rPr lang="es-ES" b="1" dirty="0"/>
              <a:t>Desarrollo del Software</a:t>
            </a:r>
          </a:p>
          <a:p>
            <a:r>
              <a:rPr lang="es-ES" b="1" dirty="0"/>
              <a:t>Herramientas utilizadas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ES" dirty="0"/>
              <a:t>Python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ES" dirty="0"/>
              <a:t>GitHub </a:t>
            </a:r>
          </a:p>
          <a:p>
            <a:r>
              <a:rPr lang="es-ES" b="1" dirty="0"/>
              <a:t>Elementos de programación aplicados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ES" dirty="0"/>
              <a:t>Variables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ES" dirty="0"/>
              <a:t>Listas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ES" dirty="0"/>
              <a:t>Diccionarios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ES" dirty="0"/>
              <a:t>Funciones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ES" dirty="0"/>
              <a:t>Condicionales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ES" dirty="0"/>
              <a:t>Ciclos repetitivos </a:t>
            </a:r>
          </a:p>
          <a:p>
            <a:endParaRPr lang="es-EC" dirty="0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8AC3B525-0BED-4A65-A7F3-F1CC4E51D9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9241" y="4119714"/>
            <a:ext cx="4411825" cy="1920654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F8A2C48F-A1C2-45AB-B295-43BE43E24C4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89241" y="1925205"/>
            <a:ext cx="4411825" cy="19206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4751971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1250">
        <p15:prstTrans prst="pageCurlDouble"/>
      </p:transition>
    </mc:Choice>
    <mc:Fallback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E068BFF8-73D5-4C31-A9E7-3964801E98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97791" y="1397167"/>
            <a:ext cx="9603275" cy="3450613"/>
          </a:xfrm>
        </p:spPr>
        <p:txBody>
          <a:bodyPr/>
          <a:lstStyle/>
          <a:p>
            <a:r>
              <a:rPr lang="es-EC" b="1" dirty="0"/>
              <a:t>Resultados obtenidos</a:t>
            </a:r>
          </a:p>
          <a:p>
            <a:r>
              <a:rPr lang="es-EC" dirty="0"/>
              <a:t>El sistema desarrollado permite: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EC" dirty="0"/>
              <a:t>Registrar tareas académicas.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EC" dirty="0"/>
              <a:t>Visualizar actividades pendientes.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EC" dirty="0"/>
              <a:t>Buscar tareas específicas.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EC" dirty="0"/>
              <a:t>Marcar tareas como completadas.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EC" dirty="0"/>
              <a:t>Eliminar registros. </a:t>
            </a:r>
          </a:p>
          <a:p>
            <a:endParaRPr lang="es-EC" dirty="0"/>
          </a:p>
        </p:txBody>
      </p:sp>
    </p:spTree>
    <p:extLst>
      <p:ext uri="{BB962C8B-B14F-4D97-AF65-F5344CB8AC3E}">
        <p14:creationId xmlns:p14="http://schemas.microsoft.com/office/powerpoint/2010/main" val="11641639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200">
        <p14:prism/>
      </p:transition>
    </mc:Choice>
    <mc:Fallback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E068BFF8-73D5-4C31-A9E7-3964801E98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97791" y="1397167"/>
            <a:ext cx="9603275" cy="3450613"/>
          </a:xfrm>
        </p:spPr>
        <p:txBody>
          <a:bodyPr/>
          <a:lstStyle/>
          <a:p>
            <a:r>
              <a:rPr lang="es-ES" b="1" dirty="0"/>
              <a:t>Impacto de la tecnología</a:t>
            </a:r>
          </a:p>
          <a:p>
            <a:r>
              <a:rPr lang="es-ES" dirty="0"/>
              <a:t>Las nuevas tecnologías permiten desarrollar herramientas que mejoran la organización y productividad de las personas.</a:t>
            </a:r>
          </a:p>
          <a:p>
            <a:r>
              <a:rPr lang="es-ES" dirty="0"/>
              <a:t>Este proyecto demuestra cómo una solución informática sencilla puede contribuir al ámbito educativo.</a:t>
            </a:r>
          </a:p>
          <a:p>
            <a:endParaRPr lang="es-EC" dirty="0"/>
          </a:p>
        </p:txBody>
      </p:sp>
    </p:spTree>
    <p:extLst>
      <p:ext uri="{BB962C8B-B14F-4D97-AF65-F5344CB8AC3E}">
        <p14:creationId xmlns:p14="http://schemas.microsoft.com/office/powerpoint/2010/main" val="399400177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14:prism isContent="1"/>
      </p:transition>
    </mc:Choice>
    <mc:Fallback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E068BFF8-73D5-4C31-A9E7-3964801E98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97791" y="1397167"/>
            <a:ext cx="9603275" cy="3450613"/>
          </a:xfrm>
        </p:spPr>
        <p:txBody>
          <a:bodyPr/>
          <a:lstStyle/>
          <a:p>
            <a:r>
              <a:rPr lang="es-ES" b="1" dirty="0"/>
              <a:t>Conclusiones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ES" dirty="0"/>
              <a:t>Se desarrolló un sistema funcional utilizando Python.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ES" dirty="0"/>
              <a:t>Se aplicaron conocimientos adquiridos durante la asignatura.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ES" dirty="0"/>
              <a:t>La tecnología puede utilizarse para resolver problemas cotidianos.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ES" dirty="0"/>
              <a:t>El proyecto permitió integrar conceptos de análisis, diseño y programación.</a:t>
            </a:r>
          </a:p>
          <a:p>
            <a:endParaRPr lang="es-EC" dirty="0"/>
          </a:p>
        </p:txBody>
      </p:sp>
    </p:spTree>
    <p:extLst>
      <p:ext uri="{BB962C8B-B14F-4D97-AF65-F5344CB8AC3E}">
        <p14:creationId xmlns:p14="http://schemas.microsoft.com/office/powerpoint/2010/main" val="373900676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600">
        <p14:prism isContent="1" isInverted="1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Galería">
  <a:themeElements>
    <a:clrScheme name="Galería">
      <a:dk1>
        <a:sysClr val="windowText" lastClr="000000"/>
      </a:dk1>
      <a:lt1>
        <a:sysClr val="window" lastClr="FFFFFF"/>
      </a:lt1>
      <a:dk2>
        <a:srgbClr val="454545"/>
      </a:dk2>
      <a:lt2>
        <a:srgbClr val="DFDBD5"/>
      </a:lt2>
      <a:accent1>
        <a:srgbClr val="B71E42"/>
      </a:accent1>
      <a:accent2>
        <a:srgbClr val="DE478E"/>
      </a:accent2>
      <a:accent3>
        <a:srgbClr val="BC72F0"/>
      </a:accent3>
      <a:accent4>
        <a:srgbClr val="795FAF"/>
      </a:accent4>
      <a:accent5>
        <a:srgbClr val="586EA6"/>
      </a:accent5>
      <a:accent6>
        <a:srgbClr val="6892A0"/>
      </a:accent6>
      <a:hlink>
        <a:srgbClr val="FA2B5C"/>
      </a:hlink>
      <a:folHlink>
        <a:srgbClr val="BC658E"/>
      </a:folHlink>
    </a:clrScheme>
    <a:fontScheme name="Galería">
      <a:majorFont>
        <a:latin typeface="Gill Sans MT" panose="020B0502020104020203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Galería">
      <a:fillStyleLst>
        <a:solidFill>
          <a:schemeClr val="phClr"/>
        </a:solidFill>
        <a:gradFill rotWithShape="1">
          <a:gsLst>
            <a:gs pos="0">
              <a:schemeClr val="phClr">
                <a:tint val="54000"/>
                <a:alpha val="100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8000"/>
                <a:satMod val="130000"/>
                <a:lumMod val="92000"/>
              </a:schemeClr>
            </a:gs>
            <a:gs pos="100000">
              <a:schemeClr val="phClr">
                <a:shade val="78000"/>
                <a:satMod val="130000"/>
                <a:lumMod val="92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0800" dist="50800" dir="5400000" sx="96000" sy="96000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080000"/>
            </a:lightRig>
          </a:scene3d>
          <a:sp3d>
            <a:bevelT w="38100" h="12700" prst="softRound"/>
          </a:sp3d>
        </a:effectStyle>
      </a:effectStyleLst>
      <a:bgFillStyleLst>
        <a:solidFill>
          <a:schemeClr val="phClr"/>
        </a:solidFill>
        <a:solidFill>
          <a:schemeClr val="phClr"/>
        </a:solidFill>
        <a:gradFill rotWithShape="1">
          <a:gsLst>
            <a:gs pos="0">
              <a:schemeClr val="phClr">
                <a:tint val="94000"/>
                <a:satMod val="80000"/>
                <a:lumMod val="106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43000" r="43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allery" id="{BBFCD31E-59A1-489D-B089-A3EAD7CAE12E}" vid="{F5E91637-A7B6-4E27-B710-77DA7014EE1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Gallery</Template>
  <TotalTime>54</TotalTime>
  <Words>388</Words>
  <Application>Microsoft Office PowerPoint</Application>
  <PresentationFormat>Panorámica</PresentationFormat>
  <Paragraphs>96</Paragraphs>
  <Slides>12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12</vt:i4>
      </vt:variant>
    </vt:vector>
  </HeadingPairs>
  <TitlesOfParts>
    <vt:vector size="16" baseType="lpstr">
      <vt:lpstr>Arial</vt:lpstr>
      <vt:lpstr>Gill Sans MT</vt:lpstr>
      <vt:lpstr>Times New Roman</vt:lpstr>
      <vt:lpstr>Galería</vt:lpstr>
      <vt:lpstr>PROYECTO INTEGRADOR El impacto de las nuevas tecnologías en la sociedad: desarrollo y proyección de soluciones informáticas 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NOVAKRAK MASTER</dc:creator>
  <cp:lastModifiedBy>NOVAKRAK MASTER</cp:lastModifiedBy>
  <cp:revision>11</cp:revision>
  <dcterms:created xsi:type="dcterms:W3CDTF">2026-06-21T16:55:36Z</dcterms:created>
  <dcterms:modified xsi:type="dcterms:W3CDTF">2026-06-21T17:51:13Z</dcterms:modified>
</cp:coreProperties>
</file>