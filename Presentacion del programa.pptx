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9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1" d="100"/>
          <a:sy n="71" d="100"/>
        </p:scale>
        <p:origin x="69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5F1C0-3782-46F0-AF74-514455053B3D}" type="datetimeFigureOut">
              <a:rPr lang="es-EC" smtClean="0"/>
              <a:t>21/6/2026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CB4BCADC-24FB-4875-ADD0-5F092C47E530}" type="slidenum">
              <a:rPr lang="es-EC" smtClean="0"/>
              <a:t>‹Nº›</a:t>
            </a:fld>
            <a:endParaRPr lang="es-EC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1242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5F1C0-3782-46F0-AF74-514455053B3D}" type="datetimeFigureOut">
              <a:rPr lang="es-EC" smtClean="0"/>
              <a:t>21/6/2026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ADC-24FB-4875-ADD0-5F092C47E530}" type="slidenum">
              <a:rPr lang="es-EC" smtClean="0"/>
              <a:t>‹Nº›</a:t>
            </a:fld>
            <a:endParaRPr lang="es-EC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6602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5F1C0-3782-46F0-AF74-514455053B3D}" type="datetimeFigureOut">
              <a:rPr lang="es-EC" smtClean="0"/>
              <a:t>21/6/2026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ADC-24FB-4875-ADD0-5F092C47E530}" type="slidenum">
              <a:rPr lang="es-EC" smtClean="0"/>
              <a:t>‹Nº›</a:t>
            </a:fld>
            <a:endParaRPr lang="es-EC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2791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5F1C0-3782-46F0-AF74-514455053B3D}" type="datetimeFigureOut">
              <a:rPr lang="es-EC" smtClean="0"/>
              <a:t>21/6/2026</a:t>
            </a:fld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ADC-24FB-4875-ADD0-5F092C47E530}" type="slidenum">
              <a:rPr lang="es-EC" smtClean="0"/>
              <a:t>‹Nº›</a:t>
            </a:fld>
            <a:endParaRPr lang="es-EC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26815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5F1C0-3782-46F0-AF74-514455053B3D}" type="datetimeFigureOut">
              <a:rPr lang="es-EC" smtClean="0"/>
              <a:t>21/6/2026</a:t>
            </a:fld>
            <a:endParaRPr lang="es-EC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ADC-24FB-4875-ADD0-5F092C47E530}" type="slidenum">
              <a:rPr lang="es-EC" smtClean="0"/>
              <a:t>‹Nº›</a:t>
            </a:fld>
            <a:endParaRPr lang="es-EC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60350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5F1C0-3782-46F0-AF74-514455053B3D}" type="datetimeFigureOut">
              <a:rPr lang="es-EC" smtClean="0"/>
              <a:t>21/6/2026</a:t>
            </a:fld>
            <a:endParaRPr lang="es-EC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ADC-24FB-4875-ADD0-5F092C47E530}" type="slidenum">
              <a:rPr lang="es-EC" smtClean="0"/>
              <a:t>‹Nº›</a:t>
            </a:fld>
            <a:endParaRPr lang="es-EC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79161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5F1C0-3782-46F0-AF74-514455053B3D}" type="datetimeFigureOut">
              <a:rPr lang="es-EC" smtClean="0"/>
              <a:t>21/6/2026</a:t>
            </a:fld>
            <a:endParaRPr lang="es-EC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ADC-24FB-4875-ADD0-5F092C47E53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9438039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5F1C0-3782-46F0-AF74-514455053B3D}" type="datetimeFigureOut">
              <a:rPr lang="es-EC" smtClean="0"/>
              <a:t>21/6/2026</a:t>
            </a:fld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ADC-24FB-4875-ADD0-5F092C47E530}" type="slidenum">
              <a:rPr lang="es-EC" smtClean="0"/>
              <a:t>‹Nº›</a:t>
            </a:fld>
            <a:endParaRPr lang="es-EC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6226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0665F1C0-3782-46F0-AF74-514455053B3D}" type="datetimeFigureOut">
              <a:rPr lang="es-EC" smtClean="0"/>
              <a:t>21/6/2026</a:t>
            </a:fld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ADC-24FB-4875-ADD0-5F092C47E530}" type="slidenum">
              <a:rPr lang="es-EC" smtClean="0"/>
              <a:t>‹Nº›</a:t>
            </a:fld>
            <a:endParaRPr lang="es-EC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9524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5F1C0-3782-46F0-AF74-514455053B3D}" type="datetimeFigureOut">
              <a:rPr lang="es-EC" smtClean="0"/>
              <a:t>21/6/2026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ADC-24FB-4875-ADD0-5F092C47E530}" type="slidenum">
              <a:rPr lang="es-EC" smtClean="0"/>
              <a:t>‹Nº›</a:t>
            </a:fld>
            <a:endParaRPr lang="es-EC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12631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5F1C0-3782-46F0-AF74-514455053B3D}" type="datetimeFigureOut">
              <a:rPr lang="es-EC" smtClean="0"/>
              <a:t>21/6/2026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ADC-24FB-4875-ADD0-5F092C47E530}" type="slidenum">
              <a:rPr lang="es-EC" smtClean="0"/>
              <a:t>‹Nº›</a:t>
            </a:fld>
            <a:endParaRPr lang="es-EC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5009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65F1C0-3782-46F0-AF74-514455053B3D}" type="datetimeFigureOut">
              <a:rPr lang="es-EC" smtClean="0"/>
              <a:t>21/6/2026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B4BCADC-24FB-4875-ADD0-5F092C47E530}" type="slidenum">
              <a:rPr lang="es-EC" smtClean="0"/>
              <a:t>‹Nº›</a:t>
            </a:fld>
            <a:endParaRPr lang="es-EC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9040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tiago1418/video-sobre-el-SistemaGestion_de_Tareas.gi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DAE680-8D2C-4C8E-9A7C-F7FCB5304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1612" y="188259"/>
            <a:ext cx="10515600" cy="1880534"/>
          </a:xfrm>
        </p:spPr>
        <p:txBody>
          <a:bodyPr>
            <a:normAutofit fontScale="90000"/>
          </a:bodyPr>
          <a:lstStyle/>
          <a:p>
            <a:r>
              <a:rPr lang="es-ES" b="1" dirty="0"/>
              <a:t>PROYECTO INTEGRADOR</a:t>
            </a:r>
            <a:br>
              <a:rPr lang="es-ES" b="1" dirty="0"/>
            </a:br>
            <a:r>
              <a:rPr lang="es-ES" b="1" dirty="0"/>
              <a:t>El impacto de las nuevas tecnologías en la sociedad: desarrollo y proyección de soluciones informáticas</a:t>
            </a:r>
            <a:br>
              <a:rPr lang="es-ES" b="1" dirty="0"/>
            </a:b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ACAE61-9EFF-48CC-9283-D0C21573BE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0247" y="2326342"/>
            <a:ext cx="10515600" cy="3070692"/>
          </a:xfrm>
        </p:spPr>
        <p:txBody>
          <a:bodyPr/>
          <a:lstStyle/>
          <a:p>
            <a:r>
              <a:rPr lang="es-ES" b="1" dirty="0"/>
              <a:t>Sistema de Gestión de Tareas Académicas</a:t>
            </a:r>
            <a:endParaRPr lang="es-ES" dirty="0"/>
          </a:p>
          <a:p>
            <a:r>
              <a:rPr lang="es-ES" b="1" dirty="0"/>
              <a:t>Autor:</a:t>
            </a:r>
            <a:r>
              <a:rPr lang="es-ES" dirty="0"/>
              <a:t> Tiago Alejandro Insuasti Guerrero</a:t>
            </a:r>
          </a:p>
          <a:p>
            <a:r>
              <a:rPr lang="es-ES" b="1" dirty="0"/>
              <a:t>Asignatura:</a:t>
            </a:r>
            <a:r>
              <a:rPr lang="es-ES" dirty="0"/>
              <a:t> Lógica De Programación</a:t>
            </a:r>
          </a:p>
          <a:p>
            <a:r>
              <a:rPr lang="es-ES" b="1" dirty="0"/>
              <a:t>Docente:</a:t>
            </a:r>
            <a:r>
              <a:rPr lang="es-ES" dirty="0"/>
              <a:t> </a:t>
            </a:r>
            <a:r>
              <a:rPr lang="es-EC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MONICA PATRICIA SALAZAR TAPIA</a:t>
            </a:r>
            <a:endParaRPr lang="es-ES" dirty="0"/>
          </a:p>
          <a:p>
            <a:r>
              <a:rPr lang="es-ES" b="1" dirty="0"/>
              <a:t>Institución: </a:t>
            </a:r>
            <a:r>
              <a:rPr lang="es-ES" dirty="0"/>
              <a:t>Universidad Internacional Del Ecuador</a:t>
            </a:r>
          </a:p>
          <a:p>
            <a:r>
              <a:rPr lang="es-ES" b="1" dirty="0"/>
              <a:t>Fecha:</a:t>
            </a:r>
            <a:r>
              <a:rPr lang="es-ES" dirty="0"/>
              <a:t> Junio 2026</a:t>
            </a:r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32489315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B1E4D5C-EDC2-49E3-A42E-CD66924643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4362" y="1383720"/>
            <a:ext cx="9603275" cy="3450613"/>
          </a:xfrm>
        </p:spPr>
        <p:txBody>
          <a:bodyPr/>
          <a:lstStyle/>
          <a:p>
            <a:pPr marL="0" indent="0">
              <a:buNone/>
            </a:pPr>
            <a:r>
              <a:rPr lang="es-ES" b="1" dirty="0"/>
              <a:t>  Introducción</a:t>
            </a:r>
          </a:p>
          <a:p>
            <a:r>
              <a:rPr lang="es-ES" dirty="0"/>
              <a:t>La tecnología se ha convertido en una herramienta fundamental en la vida cotidiana. Actualmente facilita actividades relacionadas con la educación, la comunicación y la organización personal.</a:t>
            </a:r>
          </a:p>
          <a:p>
            <a:r>
              <a:rPr lang="es-ES" dirty="0"/>
              <a:t>Este proyecto propone una solución informática desarrollada en Python para ayudar a los estudiantes a gestionar sus tareas académicas de forma más eficiente.</a:t>
            </a:r>
          </a:p>
          <a:p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408685836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crush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68BFF8-73D5-4C31-A9E7-3964801E9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7791" y="1397167"/>
            <a:ext cx="9603275" cy="3450613"/>
          </a:xfrm>
        </p:spPr>
        <p:txBody>
          <a:bodyPr/>
          <a:lstStyle/>
          <a:p>
            <a:pPr marL="0" indent="0">
              <a:buNone/>
            </a:pPr>
            <a:r>
              <a:rPr lang="es-ES" b="1" dirty="0"/>
              <a:t>   Descripción del problema</a:t>
            </a:r>
          </a:p>
          <a:p>
            <a:r>
              <a:rPr lang="es-ES" dirty="0"/>
              <a:t>Muchos estudiantes presentan dificultades para organizar sus actividades académicas debido al olvido de tareas y la falta de planificación.</a:t>
            </a:r>
          </a:p>
          <a:p>
            <a:r>
              <a:rPr lang="es-ES" dirty="0"/>
              <a:t>Esta situación puede afectar el rendimiento académico y la gestión adecuada del tiempo.</a:t>
            </a:r>
          </a:p>
          <a:p>
            <a:r>
              <a:rPr lang="es-ES" b="1" dirty="0"/>
              <a:t>Solución propuesta</a:t>
            </a:r>
          </a:p>
          <a:p>
            <a:r>
              <a:rPr lang="es-ES" dirty="0"/>
              <a:t>Desarrollo de un sistema de gestión de tareas académicas mediante Python.</a:t>
            </a:r>
          </a:p>
          <a:p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337649732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68BFF8-73D5-4C31-A9E7-3964801E9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7791" y="1397167"/>
            <a:ext cx="9603275" cy="345061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s-EC" b="1" dirty="0"/>
              <a:t>   Objetivos:</a:t>
            </a:r>
          </a:p>
          <a:p>
            <a:r>
              <a:rPr lang="es-EC" b="1" dirty="0"/>
              <a:t>Objetivo general</a:t>
            </a:r>
          </a:p>
          <a:p>
            <a:r>
              <a:rPr lang="es-EC" dirty="0"/>
              <a:t>Desarrollar un sistema informático que permita gestionar tareas académicas de forma organizada.</a:t>
            </a:r>
          </a:p>
          <a:p>
            <a:r>
              <a:rPr lang="es-EC" b="1" dirty="0"/>
              <a:t>Objetivos específicos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C" dirty="0"/>
              <a:t>Registrar tareas.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C" dirty="0"/>
              <a:t>Visualizar tareas pendientes.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C" dirty="0"/>
              <a:t>Buscar tareas registradas.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C" dirty="0"/>
              <a:t>Completar tareas.</a:t>
            </a:r>
          </a:p>
          <a:p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300395846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Marcador de contenido 1">
            <a:extLst>
              <a:ext uri="{FF2B5EF4-FFF2-40B4-BE49-F238E27FC236}">
                <a16:creationId xmlns:a16="http://schemas.microsoft.com/office/drawing/2014/main" id="{481454CD-9E30-4697-872E-5EECB642D2A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81451481"/>
              </p:ext>
            </p:extLst>
          </p:nvPr>
        </p:nvGraphicFramePr>
        <p:xfrm>
          <a:off x="1455178" y="2068363"/>
          <a:ext cx="9604374" cy="3291840"/>
        </p:xfrm>
        <a:graphic>
          <a:graphicData uri="http://schemas.openxmlformats.org/drawingml/2006/table">
            <a:tbl>
              <a:tblPr/>
              <a:tblGrid>
                <a:gridCol w="4802187">
                  <a:extLst>
                    <a:ext uri="{9D8B030D-6E8A-4147-A177-3AD203B41FA5}">
                      <a16:colId xmlns:a16="http://schemas.microsoft.com/office/drawing/2014/main" val="3756470074"/>
                    </a:ext>
                  </a:extLst>
                </a:gridCol>
                <a:gridCol w="4802187">
                  <a:extLst>
                    <a:ext uri="{9D8B030D-6E8A-4147-A177-3AD203B41FA5}">
                      <a16:colId xmlns:a16="http://schemas.microsoft.com/office/drawing/2014/main" val="319811474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s-EC" sz="1800" dirty="0"/>
                        <a:t>Semana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C" sz="1800"/>
                        <a:t>Actividad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337028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s-EC" sz="18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C" sz="1800"/>
                        <a:t>Identificación del problema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603798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s-EC" sz="1800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C" sz="1800"/>
                        <a:t>Investigación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767003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s-EC" sz="1800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C" sz="1800"/>
                        <a:t>Diseño de diagramas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4756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s-EC" sz="1800"/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C" sz="1800"/>
                        <a:t>Arquitectura del sistema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006174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s-EC" sz="1800"/>
                        <a:t>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C" sz="1800"/>
                        <a:t>Desarrollo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197443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s-EC" sz="1800"/>
                        <a:t>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C" sz="1800"/>
                        <a:t>Implementación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82930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s-EC" sz="1800"/>
                        <a:t>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C" sz="1800"/>
                        <a:t>Pruebas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63077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s-EC" sz="1800"/>
                        <a:t>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C" sz="1800" dirty="0"/>
                        <a:t>Documentación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7128174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57F51BC8-1C21-48EA-B902-35A7F0550C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5178" y="1159244"/>
            <a:ext cx="3360215" cy="677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C" altLang="es-EC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Planificación del proyecto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C" altLang="es-EC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845905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68BFF8-73D5-4C31-A9E7-3964801E9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7791" y="1397167"/>
            <a:ext cx="9603275" cy="4210257"/>
          </a:xfrm>
        </p:spPr>
        <p:txBody>
          <a:bodyPr>
            <a:normAutofit lnSpcReduction="10000"/>
          </a:bodyPr>
          <a:lstStyle/>
          <a:p>
            <a:r>
              <a:rPr lang="es-ES" b="1" dirty="0"/>
              <a:t>Diagrama de Casos de Uso</a:t>
            </a:r>
          </a:p>
          <a:p>
            <a:r>
              <a:rPr lang="es-ES" b="1" dirty="0"/>
              <a:t>Figura 1</a:t>
            </a:r>
            <a:endParaRPr lang="es-ES" dirty="0"/>
          </a:p>
          <a:p>
            <a:pPr marL="0" indent="0">
              <a:buNone/>
            </a:pPr>
            <a:r>
              <a:rPr lang="es-ES" dirty="0"/>
              <a:t> </a:t>
            </a:r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endParaRPr lang="es-ES" dirty="0"/>
          </a:p>
          <a:p>
            <a:r>
              <a:rPr lang="es-ES" b="1" dirty="0"/>
              <a:t>Nota.</a:t>
            </a:r>
            <a:r>
              <a:rPr lang="es-ES" dirty="0"/>
              <a:t> Representación de las funcionalidades disponibles para el usuario dentro del sistema.</a:t>
            </a:r>
          </a:p>
          <a:p>
            <a:endParaRPr lang="es-EC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273451B-DDF8-43D2-9F97-9E1E971C62D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48" t="-853" r="11067" b="34126"/>
          <a:stretch/>
        </p:blipFill>
        <p:spPr>
          <a:xfrm>
            <a:off x="4247029" y="2359958"/>
            <a:ext cx="3697942" cy="2138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155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68BFF8-73D5-4C31-A9E7-3964801E9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7791" y="1397167"/>
            <a:ext cx="9603275" cy="4506092"/>
          </a:xfrm>
        </p:spPr>
        <p:txBody>
          <a:bodyPr>
            <a:normAutofit fontScale="85000" lnSpcReduction="10000"/>
          </a:bodyPr>
          <a:lstStyle/>
          <a:p>
            <a:r>
              <a:rPr lang="es-ES" b="1" dirty="0"/>
              <a:t>Diagrama de Flujo</a:t>
            </a:r>
          </a:p>
          <a:p>
            <a:r>
              <a:rPr lang="es-ES" b="1" dirty="0"/>
              <a:t>Figura 2</a:t>
            </a:r>
          </a:p>
          <a:p>
            <a:endParaRPr lang="es-ES" b="1" dirty="0"/>
          </a:p>
          <a:p>
            <a:endParaRPr lang="es-ES" b="1" dirty="0"/>
          </a:p>
          <a:p>
            <a:endParaRPr lang="es-ES" b="1" dirty="0"/>
          </a:p>
          <a:p>
            <a:endParaRPr lang="es-ES" b="1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r>
              <a:rPr lang="es-ES" b="1" dirty="0"/>
              <a:t>Nota.</a:t>
            </a:r>
            <a:r>
              <a:rPr lang="es-ES" dirty="0"/>
              <a:t> Secuencia lógica de ejecución del sistema.</a:t>
            </a:r>
          </a:p>
          <a:p>
            <a:endParaRPr lang="es-EC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001F08B-4CF0-42B7-885B-2FDA534137B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812"/>
          <a:stretch/>
        </p:blipFill>
        <p:spPr>
          <a:xfrm>
            <a:off x="4948486" y="1909481"/>
            <a:ext cx="3106302" cy="3551352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9588B547-D9A7-4D2A-8E70-B03317AB9D88}"/>
              </a:ext>
            </a:extLst>
          </p:cNvPr>
          <p:cNvSpPr/>
          <p:nvPr/>
        </p:nvSpPr>
        <p:spPr>
          <a:xfrm>
            <a:off x="7368989" y="2433918"/>
            <a:ext cx="685800" cy="5109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2410851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68BFF8-73D5-4C31-A9E7-3964801E9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7791" y="1397167"/>
            <a:ext cx="9603275" cy="4479198"/>
          </a:xfrm>
        </p:spPr>
        <p:txBody>
          <a:bodyPr/>
          <a:lstStyle/>
          <a:p>
            <a:r>
              <a:rPr lang="es-ES" b="1" dirty="0"/>
              <a:t>Arquitectura del Sistema</a:t>
            </a:r>
          </a:p>
          <a:p>
            <a:r>
              <a:rPr lang="es-ES" b="1" dirty="0"/>
              <a:t>Figura 3</a:t>
            </a:r>
          </a:p>
          <a:p>
            <a:endParaRPr lang="es-ES" b="1" dirty="0"/>
          </a:p>
          <a:p>
            <a:endParaRPr lang="es-ES" b="1" dirty="0"/>
          </a:p>
          <a:p>
            <a:endParaRPr lang="es-ES" b="1" dirty="0"/>
          </a:p>
          <a:p>
            <a:endParaRPr lang="es-ES" b="1" dirty="0"/>
          </a:p>
          <a:p>
            <a:endParaRPr lang="es-ES" b="1" dirty="0"/>
          </a:p>
          <a:p>
            <a:endParaRPr lang="es-ES" dirty="0"/>
          </a:p>
          <a:p>
            <a:r>
              <a:rPr lang="es-ES" b="1" dirty="0"/>
              <a:t>Nota.</a:t>
            </a:r>
            <a:r>
              <a:rPr lang="es-ES" dirty="0"/>
              <a:t> Estructura general del funcionamiento del programa.</a:t>
            </a:r>
          </a:p>
          <a:p>
            <a:endParaRPr lang="es-EC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340B6DA-BB95-4A8A-9B22-2410364A77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91" t="7653" r="62467" b="15938"/>
          <a:stretch/>
        </p:blipFill>
        <p:spPr>
          <a:xfrm>
            <a:off x="5060576" y="1962607"/>
            <a:ext cx="2070847" cy="3348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716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68BFF8-73D5-4C31-A9E7-3964801E9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7791" y="0"/>
            <a:ext cx="9603275" cy="5688105"/>
          </a:xfrm>
        </p:spPr>
        <p:txBody>
          <a:bodyPr>
            <a:normAutofit/>
          </a:bodyPr>
          <a:lstStyle/>
          <a:p>
            <a:r>
              <a:rPr lang="es-ES" b="1" dirty="0"/>
              <a:t>Desarrollo del Software</a:t>
            </a:r>
          </a:p>
          <a:p>
            <a:r>
              <a:rPr lang="es-ES" b="1" dirty="0"/>
              <a:t>Herramientas utilizadas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Python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GitHub </a:t>
            </a:r>
          </a:p>
          <a:p>
            <a:r>
              <a:rPr lang="es-ES" b="1" dirty="0"/>
              <a:t>Elementos de programación aplicados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Variables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Listas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Diccionarios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Funciones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Condicionales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Ciclos repetitivos </a:t>
            </a:r>
          </a:p>
          <a:p>
            <a:endParaRPr lang="es-EC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AC3B525-0BED-4A65-A7F3-F1CC4E51D9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9241" y="4119714"/>
            <a:ext cx="4411825" cy="192065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F8A2C48F-A1C2-45AB-B295-43BE43E24C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241" y="1925205"/>
            <a:ext cx="4411825" cy="1920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75197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68BFF8-73D5-4C31-A9E7-3964801E9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7791" y="1397167"/>
            <a:ext cx="9603275" cy="3450613"/>
          </a:xfrm>
        </p:spPr>
        <p:txBody>
          <a:bodyPr/>
          <a:lstStyle/>
          <a:p>
            <a:r>
              <a:rPr lang="es-EC" b="1" dirty="0"/>
              <a:t>Resultados obtenidos</a:t>
            </a:r>
          </a:p>
          <a:p>
            <a:r>
              <a:rPr lang="es-EC" dirty="0"/>
              <a:t>El sistema desarrollado permite: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C" dirty="0"/>
              <a:t>Registrar tareas académicas.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C" dirty="0"/>
              <a:t>Visualizar actividades pendientes.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C" dirty="0"/>
              <a:t>Buscar tareas específicas.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C" dirty="0"/>
              <a:t>Marcar tareas como completadas.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C" dirty="0"/>
              <a:t>Eliminar registros. </a:t>
            </a:r>
          </a:p>
          <a:p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116416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68BFF8-73D5-4C31-A9E7-3964801E9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7791" y="1397167"/>
            <a:ext cx="9603275" cy="3450613"/>
          </a:xfrm>
        </p:spPr>
        <p:txBody>
          <a:bodyPr/>
          <a:lstStyle/>
          <a:p>
            <a:r>
              <a:rPr lang="es-ES" b="1" dirty="0"/>
              <a:t>Impacto de la tecnología</a:t>
            </a:r>
          </a:p>
          <a:p>
            <a:r>
              <a:rPr lang="es-ES" dirty="0"/>
              <a:t>Las nuevas tecnologías permiten desarrollar herramientas que mejoran la organización y productividad de las personas.</a:t>
            </a:r>
          </a:p>
          <a:p>
            <a:r>
              <a:rPr lang="es-ES" dirty="0"/>
              <a:t>Este proyecto demuestra cómo una solución informática sencilla puede contribuir al ámbito educativo.</a:t>
            </a:r>
          </a:p>
          <a:p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3994001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68BFF8-73D5-4C31-A9E7-3964801E9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7791" y="1397167"/>
            <a:ext cx="9603275" cy="3450613"/>
          </a:xfrm>
        </p:spPr>
        <p:txBody>
          <a:bodyPr/>
          <a:lstStyle/>
          <a:p>
            <a:r>
              <a:rPr lang="es-ES" b="1" dirty="0"/>
              <a:t>Conclusiones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Se desarrolló un sistema funcional utilizando Python.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Se aplicaron conocimientos adquiridos durante la asignatura.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La tecnología puede utilizarse para resolver problemas cotidianos.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El proyecto permitió integrar conceptos de análisis, diseño y programación.</a:t>
            </a:r>
          </a:p>
          <a:p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37390067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8E9605D-B06C-471E-9356-704E160C65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C" dirty="0">
                <a:hlinkClick r:id="rId2"/>
              </a:rPr>
              <a:t>https://github.com/tiago1418/video-sobre-el-SistemaGestion_de_Tareas.git</a:t>
            </a:r>
            <a:endParaRPr lang="es-EC" dirty="0"/>
          </a:p>
          <a:p>
            <a:r>
              <a:rPr lang="es-EC" dirty="0"/>
              <a:t>Video presentación del proyecto</a:t>
            </a:r>
          </a:p>
        </p:txBody>
      </p:sp>
    </p:spTree>
    <p:extLst>
      <p:ext uri="{BB962C8B-B14F-4D97-AF65-F5344CB8AC3E}">
        <p14:creationId xmlns:p14="http://schemas.microsoft.com/office/powerpoint/2010/main" val="3494159745"/>
      </p:ext>
    </p:extLst>
  </p:cSld>
  <p:clrMapOvr>
    <a:masterClrMapping/>
  </p:clrMapOvr>
</p:sld>
</file>

<file path=ppt/theme/theme1.xml><?xml version="1.0" encoding="utf-8"?>
<a:theme xmlns:a="http://schemas.openxmlformats.org/drawingml/2006/main" name="Galería">
  <a:themeElements>
    <a:clrScheme name="Galería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ería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ería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67</TotalTime>
  <Words>407</Words>
  <Application>Microsoft Office PowerPoint</Application>
  <PresentationFormat>Panorámica</PresentationFormat>
  <Paragraphs>98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Arial</vt:lpstr>
      <vt:lpstr>Gill Sans MT</vt:lpstr>
      <vt:lpstr>Times New Roman</vt:lpstr>
      <vt:lpstr>Galería</vt:lpstr>
      <vt:lpstr>PROYECTO INTEGRADOR El impacto de las nuevas tecnologías en la sociedad: desarrollo y proyección de soluciones informáticas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NOVAKRAK MASTER</dc:creator>
  <cp:lastModifiedBy>NOVAKRAK MASTER</cp:lastModifiedBy>
  <cp:revision>13</cp:revision>
  <dcterms:created xsi:type="dcterms:W3CDTF">2026-06-21T16:55:36Z</dcterms:created>
  <dcterms:modified xsi:type="dcterms:W3CDTF">2026-06-21T18:56:40Z</dcterms:modified>
</cp:coreProperties>
</file>